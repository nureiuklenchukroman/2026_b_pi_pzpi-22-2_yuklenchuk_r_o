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2" r:id="rId15"/>
    <p:sldId id="273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1293A-72C3-473F-94C2-CE22FFCBCA55}" type="datetimeFigureOut">
              <a:rPr lang="uk-UA" smtClean="0"/>
              <a:t>27.06.2026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3CF0D-8B5F-4586-AB77-D6C1792FFC3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605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3CF0D-8B5F-4586-AB77-D6C1792FFC38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2456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3CF0D-8B5F-4586-AB77-D6C1792FFC38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701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3CF0D-8B5F-4586-AB77-D6C1792FFC38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1216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3CF0D-8B5F-4586-AB77-D6C1792FFC38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255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BFD2EC"/>
                </a:solidFill>
                <a:latin typeface="Calibri"/>
              </a:rPr>
              <a:t>Харківський національний університет радіоелектроніки</a:t>
            </a:r>
          </a:p>
          <a:p>
            <a:pPr algn="ctr"/>
            <a:r>
              <a:rPr sz="1400" b="0" i="0">
                <a:solidFill>
                  <a:srgbClr val="BFD2EC"/>
                </a:solidFill>
                <a:latin typeface="Calibri"/>
              </a:rPr>
              <a:t>Кафедра програмної інженерії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2865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i="0" dirty="0" err="1">
                <a:solidFill>
                  <a:srgbClr val="FFFFFF"/>
                </a:solidFill>
                <a:latin typeface="Calibri"/>
              </a:rPr>
              <a:t>Серверна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частина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та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вебзастосунок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навчальної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платформи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для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генерації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тестів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та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інтелектуального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пошуку</a:t>
            </a:r>
            <a:r>
              <a:rPr sz="2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900" b="1" i="0" dirty="0" err="1">
                <a:solidFill>
                  <a:srgbClr val="FFFFFF"/>
                </a:solidFill>
                <a:latin typeface="Calibri"/>
              </a:rPr>
              <a:t>знань</a:t>
            </a:r>
            <a:endParaRPr sz="2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700" b="0" i="1" dirty="0" err="1">
                <a:solidFill>
                  <a:srgbClr val="2E9E8F"/>
                </a:solidFill>
                <a:latin typeface="Calibri"/>
              </a:rPr>
              <a:t>Кваліфікаційна</a:t>
            </a:r>
            <a:r>
              <a:rPr sz="1700" b="0" i="1" dirty="0">
                <a:solidFill>
                  <a:srgbClr val="2E9E8F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2E9E8F"/>
                </a:solidFill>
                <a:latin typeface="Calibri"/>
              </a:rPr>
              <a:t>робота</a:t>
            </a:r>
            <a:r>
              <a:rPr sz="1700" b="0" i="1" dirty="0">
                <a:solidFill>
                  <a:srgbClr val="2E9E8F"/>
                </a:solidFill>
                <a:latin typeface="Calibri"/>
              </a:rPr>
              <a:t> </a:t>
            </a:r>
            <a:r>
              <a:rPr sz="1700" b="0" i="1" dirty="0" err="1">
                <a:solidFill>
                  <a:srgbClr val="2E9E8F"/>
                </a:solidFill>
                <a:latin typeface="Calibri"/>
              </a:rPr>
              <a:t>бакалавра</a:t>
            </a:r>
            <a:endParaRPr sz="1700" b="0" i="1" dirty="0">
              <a:solidFill>
                <a:srgbClr val="2E9E8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092645"/>
            <a:ext cx="10728655" cy="10618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dirty="0"/>
          </a:p>
          <a:p>
            <a:pPr algn="ctr"/>
            <a:r>
              <a:rPr sz="1500" b="0" i="0" dirty="0" err="1">
                <a:solidFill>
                  <a:srgbClr val="D8E2F0"/>
                </a:solidFill>
                <a:latin typeface="Calibri"/>
              </a:rPr>
              <a:t>Виконав</a:t>
            </a:r>
            <a:r>
              <a:rPr sz="1500" b="0" i="0" dirty="0">
                <a:solidFill>
                  <a:srgbClr val="D8E2F0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D8E2F0"/>
                </a:solidFill>
                <a:latin typeface="Calibri"/>
              </a:rPr>
              <a:t>студент</a:t>
            </a:r>
            <a:r>
              <a:rPr sz="1500" b="0" i="0" dirty="0">
                <a:solidFill>
                  <a:srgbClr val="D8E2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D8E2F0"/>
                </a:solidFill>
                <a:latin typeface="Calibri"/>
              </a:rPr>
              <a:t>гр</a:t>
            </a:r>
            <a:r>
              <a:rPr sz="1500" b="0" i="0" dirty="0">
                <a:solidFill>
                  <a:srgbClr val="D8E2F0"/>
                </a:solidFill>
                <a:latin typeface="Calibri"/>
              </a:rPr>
              <a:t>. ПЗПІ-22-2  Юкленчук Р. О.</a:t>
            </a:r>
          </a:p>
          <a:p>
            <a:pPr algn="ctr"/>
            <a:r>
              <a:rPr lang="uk-UA" sz="1500" b="0" i="0" dirty="0">
                <a:solidFill>
                  <a:srgbClr val="D8E2F0"/>
                </a:solidFill>
                <a:latin typeface="Calibri"/>
              </a:rPr>
              <a:t>Керівник: Ляпота В. </a:t>
            </a:r>
            <a:r>
              <a:rPr lang="uk-UA" sz="1500" dirty="0">
                <a:solidFill>
                  <a:srgbClr val="D8E2F0"/>
                </a:solidFill>
                <a:latin typeface="Calibri"/>
              </a:rPr>
              <a:t>М.</a:t>
            </a:r>
            <a:endParaRPr lang="uk-UA" sz="1500" b="0" i="0" dirty="0">
              <a:solidFill>
                <a:srgbClr val="D8E2F0"/>
              </a:solidFill>
              <a:latin typeface="Calibri"/>
            </a:endParaRPr>
          </a:p>
          <a:p>
            <a:pPr algn="ctr"/>
            <a:r>
              <a:rPr sz="1500" b="0" i="0" dirty="0" err="1">
                <a:solidFill>
                  <a:srgbClr val="D8E2F0"/>
                </a:solidFill>
                <a:latin typeface="Calibri"/>
              </a:rPr>
              <a:t>Харків</a:t>
            </a:r>
            <a:r>
              <a:rPr sz="1500" b="0" i="0" dirty="0">
                <a:solidFill>
                  <a:srgbClr val="D8E2F0"/>
                </a:solidFill>
                <a:latin typeface="Calibri"/>
              </a:rPr>
              <a:t>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Мета та об'єкт розробки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10079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Об'єкт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—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інтелектуальний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генератор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тестових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завдань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основі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штучного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інтелекту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Мета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—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автоматизувати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прискорити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створення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й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проходження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навчальних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тестів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шляхом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розроблення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серверної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частини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(REST API)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вебзастосунку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платформи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Використані технології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2250" y="1252728"/>
            <a:ext cx="3515258" cy="457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92250" y="1252728"/>
            <a:ext cx="3515258" cy="502920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83690" y="1252728"/>
            <a:ext cx="333237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Серверна частина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8037" y="1252728"/>
            <a:ext cx="3515258" cy="457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08037" y="1252728"/>
            <a:ext cx="3515258" cy="502920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99477" y="1252728"/>
            <a:ext cx="333237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Клієнтська частина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DFCDBAA-09E2-6D4B-704B-50852435A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990" y="1953621"/>
            <a:ext cx="1169035" cy="11297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355449-2F65-CA0B-3A50-037475E8C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95" y="3281371"/>
            <a:ext cx="1074583" cy="10745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E51FAB0-A365-698A-6C3F-016AC82A4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985" y="4277549"/>
            <a:ext cx="1226083" cy="12260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D2A325C-EC2C-A7C1-8811-F778274CD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477" y="1920240"/>
            <a:ext cx="1462075" cy="14620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11F838-D497-1A5A-10F2-687AFF7E2C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650" y="3751911"/>
            <a:ext cx="15621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Актуальність та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Ручне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створення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тестів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трудомістке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потребує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значних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часових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затрат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Наявні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платформи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вимагають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повністю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ручного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наповнення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контентом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Відсутнє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поєднання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автогенерації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з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інтелектуальним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пошуком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знань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Потрібен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зручний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вебінтерфейс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для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генерації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,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редагування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проходження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тестів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Аналіз аналогів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170985"/>
              </p:ext>
            </p:extLst>
          </p:nvPr>
        </p:nvGraphicFramePr>
        <p:xfrm>
          <a:off x="502920" y="141732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Критерій</a:t>
                      </a:r>
                    </a:p>
                  </a:txBody>
                  <a:tcPr marL="76200" marR="76200" marT="25400" marB="25400" anchor="ctr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Quizlet</a:t>
                      </a:r>
                    </a:p>
                  </a:txBody>
                  <a:tcPr marL="76200" marR="76200" marT="25400" marB="25400" anchor="ctr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Kahoot!</a:t>
                      </a:r>
                    </a:p>
                  </a:txBody>
                  <a:tcPr marL="76200" marR="76200" marT="25400" marB="25400" anchor="ctr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Google
Forms</a:t>
                      </a:r>
                    </a:p>
                  </a:txBody>
                  <a:tcPr marL="76200" marR="76200" marT="25400" marB="25400" anchor="ctr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Testportal</a:t>
                      </a:r>
                    </a:p>
                  </a:txBody>
                  <a:tcPr marL="76200" marR="76200" marT="25400" marB="25400" anchor="ctr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Наша
платформа</a:t>
                      </a:r>
                    </a:p>
                  </a:txBody>
                  <a:tcPr marL="76200" marR="76200" marT="25400" marB="25400" anchor="ctr">
                    <a:solidFill>
                      <a:srgbClr val="142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Автогенерація питань із матеріалу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9E8F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E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 i="0" dirty="0" err="1">
                          <a:solidFill>
                            <a:srgbClr val="1B222C"/>
                          </a:solidFill>
                          <a:latin typeface="Calibri"/>
                        </a:rPr>
                        <a:t>Інтелектуальний</a:t>
                      </a:r>
                      <a:r>
                        <a:rPr sz="1300" b="0" i="0" dirty="0">
                          <a:solidFill>
                            <a:srgbClr val="1B222C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1B222C"/>
                          </a:solidFill>
                          <a:latin typeface="Calibri"/>
                        </a:rPr>
                        <a:t>пошук</a:t>
                      </a:r>
                      <a:r>
                        <a:rPr sz="1300" b="0" i="0" dirty="0">
                          <a:solidFill>
                            <a:srgbClr val="1B222C"/>
                          </a:solidFill>
                          <a:latin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1B222C"/>
                          </a:solidFill>
                          <a:latin typeface="Calibri"/>
                        </a:rPr>
                        <a:t>знань</a:t>
                      </a:r>
                      <a:endParaRPr sz="1300" b="0" i="0" dirty="0">
                        <a:solidFill>
                          <a:srgbClr val="1B222C"/>
                        </a:solidFill>
                        <a:latin typeface="Calibri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1B222C"/>
                          </a:solidFill>
                          <a:latin typeface="Calibri"/>
                        </a:rPr>
                        <a:t>-</a:t>
                      </a:r>
                      <a:endParaRPr sz="1300" b="0" i="0" dirty="0">
                        <a:solidFill>
                          <a:srgbClr val="1B222C"/>
                        </a:solidFill>
                        <a:latin typeface="Calibri"/>
                      </a:endParaRP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9E8F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E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Зручний вебінтерфейс проходження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2E9E8F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E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Безкоштовне базове використання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част.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 err="1">
                          <a:solidFill>
                            <a:srgbClr val="1B222C"/>
                          </a:solidFill>
                          <a:latin typeface="Calibri"/>
                        </a:rPr>
                        <a:t>част</a:t>
                      </a:r>
                      <a:r>
                        <a:rPr sz="1300" b="0" i="0" dirty="0">
                          <a:solidFill>
                            <a:srgbClr val="1B222C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 dirty="0">
                          <a:solidFill>
                            <a:srgbClr val="1B222C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B222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2E9E8F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 marL="76200" marR="76200" marT="25400" marB="25400" anchor="ctr">
                    <a:solidFill>
                      <a:srgbClr val="E7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Інтерфейси наявних рішень</a:t>
            </a:r>
          </a:p>
        </p:txBody>
      </p:sp>
      <p:sp>
        <p:nvSpPr>
          <p:cNvPr id="6" name="Rectangle 5"/>
          <p:cNvSpPr/>
          <p:nvPr/>
        </p:nvSpPr>
        <p:spPr>
          <a:xfrm>
            <a:off x="977228" y="1179195"/>
            <a:ext cx="4369990" cy="230505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_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53" y="1188720"/>
            <a:ext cx="435094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456432"/>
            <a:ext cx="54100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1.1 — Quizlet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7973" y="1179195"/>
            <a:ext cx="4402994" cy="230505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_1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98" y="1188720"/>
            <a:ext cx="4383944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447" y="3456432"/>
            <a:ext cx="54100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1.2 — Kahoot!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2235" y="3876675"/>
            <a:ext cx="4399976" cy="230505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_1.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60" y="3886200"/>
            <a:ext cx="4380926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153912"/>
            <a:ext cx="54100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1.3 — Google Forms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4817" y="3876675"/>
            <a:ext cx="4329307" cy="230505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_1.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342" y="3886200"/>
            <a:ext cx="4310257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24447" y="6153912"/>
            <a:ext cx="541004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1.4 — Testportal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Постановка задачі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Розробити REST API серверної частини (FastAPI).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Реалізувати аутентифікацію та авторизацію (JWT, refresh-токени, cookies).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Спроектувати модель даних PostgreSQL.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Реалізувати логіку проходження тестів та підрахунку результатів.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Розробити вебзастосунок (React + TypeScript).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Функціональні вимоги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Реєстрація, вхід та оновлення сесії за refresh-токеном.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Завантаження матеріалів та автогенерація тестів.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Перегляд каталогу тестів, редагування та проходження.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Підрахунок балів і збереження результатів проходження.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Інтелектуальний пошук відповідей у завантаженому матеріалі.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Архітектура серверної частини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0257" y="1636395"/>
            <a:ext cx="3931180" cy="449961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 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782" y="1645920"/>
            <a:ext cx="391213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Діаграма пакетів core-api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Архітектура вебзастосунку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4967602" y="1636395"/>
            <a:ext cx="2256490" cy="449961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127" y="1645920"/>
            <a:ext cx="223744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uk-UA" sz="1100" b="0" i="1" dirty="0">
                <a:solidFill>
                  <a:srgbClr val="555F6B"/>
                </a:solidFill>
                <a:latin typeface="Calibri"/>
              </a:rPr>
              <a:t>Діаграма пакетів </a:t>
            </a:r>
            <a:r>
              <a:rPr lang="en-US" sz="1100" b="0" i="1" dirty="0">
                <a:solidFill>
                  <a:srgbClr val="555F6B"/>
                </a:solidFill>
                <a:latin typeface="Calibri"/>
              </a:rPr>
              <a:t>interface-web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Модель даних (PostgreSQL)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60976" y="1636395"/>
            <a:ext cx="4869743" cy="449961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_3.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1088515"/>
            <a:ext cx="5905499" cy="5454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3.4 — Схема бази даних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UML-проєктування: діаграми прецедентів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" y="1933845"/>
            <a:ext cx="5337657" cy="335607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3370"/>
            <a:ext cx="5318607" cy="3337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16752"/>
            <a:ext cx="53186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3.1 — Аутентифікація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4922" y="1760627"/>
            <a:ext cx="5337657" cy="3702505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_3.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770152"/>
            <a:ext cx="5318607" cy="36834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447" y="6016752"/>
            <a:ext cx="53186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3.2 — Управління тестами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2000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Аутентифікація через FastAPI Depends (бекенд)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1">
                <a:solidFill>
                  <a:srgbClr val="2E9E8F"/>
                </a:solidFill>
                <a:latin typeface="Calibri"/>
              </a:rPr>
              <a:t>Витяг токена, верифікація JWT, перевірка існування користувача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91640"/>
            <a:ext cx="9997440" cy="452628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1691640"/>
            <a:ext cx="64008" cy="4526280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801368"/>
            <a:ext cx="9631680" cy="4306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B0E6"/>
                </a:solidFill>
                <a:latin typeface="Consolas"/>
              </a:rPr>
              <a:t>async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def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get_current_user(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request: Request,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db: AsyncSession = Depends(get_db),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) -&gt; AuthUser: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credentials_exception = HTTPException(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status_code=401, detail=</a:t>
            </a:r>
            <a:r>
              <a:rPr sz="1200" b="0" i="0">
                <a:solidFill>
                  <a:srgbClr val="E6B473"/>
                </a:solidFill>
                <a:latin typeface="Consolas"/>
              </a:rPr>
              <a:t>"Not authenticated"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headers={</a:t>
            </a:r>
            <a:r>
              <a:rPr sz="1200" b="0" i="0">
                <a:solidFill>
                  <a:srgbClr val="E6B473"/>
                </a:solidFill>
                <a:latin typeface="Consolas"/>
              </a:rPr>
              <a:t>"WWW-Authenticate"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: </a:t>
            </a:r>
            <a:r>
              <a:rPr sz="1200" b="0" i="0">
                <a:solidFill>
                  <a:srgbClr val="E6B473"/>
                </a:solidFill>
                <a:latin typeface="Consolas"/>
              </a:rPr>
              <a:t>"Bearer"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token = _extract_token(request)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if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not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token: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raise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credentials_exception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try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payload = decode_token(token)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jwt.ExpiredSignatureError: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raise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HTTPException(401, </a:t>
            </a:r>
            <a:r>
              <a:rPr sz="1200" b="0" i="0">
                <a:solidFill>
                  <a:srgbClr val="E6B473"/>
                </a:solidFill>
                <a:latin typeface="Consolas"/>
              </a:rPr>
              <a:t>"Token expired"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)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from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None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jwt.PyJWTError as 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raise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credentials_exception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from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user_email = payload.get(</a:t>
            </a:r>
            <a:r>
              <a:rPr sz="1200" b="0" i="0">
                <a:solidFill>
                  <a:srgbClr val="E6B473"/>
                </a:solidFill>
                <a:latin typeface="Consolas"/>
              </a:rPr>
              <a:t>"email"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if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user_email is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None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raise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credentials_exception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user =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await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fetch_one_or_none(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db, select(User).where(User.email == user_email))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if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user is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None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:                  </a:t>
            </a:r>
            <a:r>
              <a:rPr sz="1200" b="0" i="0">
                <a:solidFill>
                  <a:srgbClr val="6F9E80"/>
                </a:solidFill>
                <a:latin typeface="Consolas"/>
              </a:rPr>
              <a:t># токен видаленого користувача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raise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credentials_exception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6FB0E6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E6EDF3"/>
                </a:solidFill>
                <a:latin typeface="Consolas"/>
              </a:rPr>
              <a:t> AuthUser.from_orm_user(user)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91072"/>
            <a:ext cx="1109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core-api/backend/app/api/deps.py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3280" y="6570297"/>
            <a:ext cx="914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uk-UA" sz="1000" b="1" i="0" dirty="0">
                <a:solidFill>
                  <a:srgbClr val="FFFFFF"/>
                </a:solidFill>
                <a:latin typeface="Calibri"/>
              </a:rPr>
              <a:t>3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Інші прийняті програмні рішення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Розмежування публічного та авторизованого доступу через залежності FastAPI (get_current_user / get_optional_user).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Валідація та нормалізація вхідних даних через схеми Pydantic (типобезпека, відповідь 422, OpenAPI).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Централізований стан сесії на клієнті (AuthContext) — компоненти не звертаються до сервера самостійно.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1B222C"/>
                </a:solidFill>
                <a:latin typeface="Calibri"/>
              </a:rPr>
              <a:t>Проходження тесту як функційний React-компонент із хуками та сервісним шаром (testService).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70297"/>
            <a:ext cx="914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uk-UA" sz="1000" b="1" i="0" dirty="0">
                <a:solidFill>
                  <a:srgbClr val="FFFFFF"/>
                </a:solidFill>
                <a:latin typeface="Calibri"/>
              </a:rPr>
              <a:t>4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Інтерфейс користувача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7906" y="1179195"/>
            <a:ext cx="9575883" cy="4956810"/>
          </a:xfrm>
          <a:prstGeom prst="rect">
            <a:avLst/>
          </a:prstGeom>
          <a:solidFill>
            <a:srgbClr val="D0D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_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431" y="1188720"/>
            <a:ext cx="9556833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555F6B"/>
                </a:solidFill>
                <a:latin typeface="Calibri"/>
              </a:rPr>
              <a:t>Рисунок 3.5 — Головна сторінка вебзастосунку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570297"/>
            <a:ext cx="914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uk-UA" sz="1000" b="1" i="0" dirty="0">
                <a:solidFill>
                  <a:srgbClr val="FFFFFF"/>
                </a:solidFill>
                <a:latin typeface="Calibri"/>
              </a:rPr>
              <a:t>5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7295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Calibri"/>
              </a:rPr>
              <a:t>Висновки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1486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Розроблено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REST API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серверної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частини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FastAPI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з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аутентифікацією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(JWT, cookies).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Спроектовано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модель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даних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PostgreSQL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реалізовано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логіку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проходження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тестів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Реалізовано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вебзастосунок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React 19 + TypeScript.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 dirty="0">
                <a:solidFill>
                  <a:srgbClr val="2E9E8F"/>
                </a:solidFill>
                <a:latin typeface="Calibri"/>
              </a:rPr>
              <a:t>▸ 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Перспективи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: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аналітика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,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адмінпанель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,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нові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формати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та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інтеграції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1B222C"/>
                </a:solidFill>
                <a:latin typeface="Calibri"/>
              </a:rPr>
              <a:t>через</a:t>
            </a:r>
            <a:r>
              <a:rPr sz="1700" b="1" i="0" dirty="0">
                <a:solidFill>
                  <a:srgbClr val="1B222C"/>
                </a:solidFill>
                <a:latin typeface="Calibri"/>
              </a:rPr>
              <a:t>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Кваліфікаційна робота бакалавра · Юкленчук Р. О. · ПЗПІ-22-2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570297"/>
            <a:ext cx="914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uk-UA" sz="1000" b="1" i="0" dirty="0">
                <a:solidFill>
                  <a:srgbClr val="FFFFFF"/>
                </a:solidFill>
                <a:latin typeface="Calibri"/>
              </a:rPr>
              <a:t>6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2540687"/>
            <a:ext cx="10728655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 dirty="0" err="1">
                <a:solidFill>
                  <a:srgbClr val="FFFFFF"/>
                </a:solidFill>
                <a:latin typeface="Calibri"/>
              </a:rPr>
              <a:t>Дякую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Calibri"/>
              </a:rPr>
              <a:t>увагу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D8E2F0"/>
                </a:solidFill>
                <a:latin typeface="Calibri"/>
              </a:rPr>
              <a:t>Юкленчук Р. О. · ПЗПІ-22-2 · Харків,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889</Words>
  <Application>Microsoft Office PowerPoint</Application>
  <PresentationFormat>Widescreen</PresentationFormat>
  <Paragraphs>151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Роман Юкленчук</cp:lastModifiedBy>
  <cp:revision>5</cp:revision>
  <dcterms:created xsi:type="dcterms:W3CDTF">2013-01-27T09:14:16Z</dcterms:created>
  <dcterms:modified xsi:type="dcterms:W3CDTF">2026-06-27T19:21:09Z</dcterms:modified>
  <cp:category/>
</cp:coreProperties>
</file>